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13716000" cy="24384000"/>
  <p:embeddedFontLst>
    <p:embeddedFont>
      <p:font typeface="Arial Black" panose="020B0604020202020204" pitchFamily="34" charset="0"/>
      <p:regular r:id="rId8"/>
      <p:bold r:id="rId9"/>
    </p:embeddedFont>
    <p:embeddedFont>
      <p:font typeface="EB Garamond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A4A3A4"/>
          </p15:clr>
        </p15:guide>
        <p15:guide id="2" pos="456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orient="horz" pos="3264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2136">
          <p15:clr>
            <a:srgbClr val="A4A3A4"/>
          </p15:clr>
        </p15:guide>
        <p15:guide id="7" orient="horz" pos="4008">
          <p15:clr>
            <a:srgbClr val="A4A3A4"/>
          </p15:clr>
        </p15:guide>
        <p15:guide id="8" orient="horz" pos="1152">
          <p15:clr>
            <a:srgbClr val="A4A3A4"/>
          </p15:clr>
        </p15:guide>
        <p15:guide id="9" orient="horz" pos="2352">
          <p15:clr>
            <a:srgbClr val="A4A3A4"/>
          </p15:clr>
        </p15:guide>
        <p15:guide id="10" orient="horz" pos="1512">
          <p15:clr>
            <a:srgbClr val="A4A3A4"/>
          </p15:clr>
        </p15:guide>
        <p15:guide id="11" pos="7680">
          <p15:clr>
            <a:srgbClr val="A4A3A4"/>
          </p15:clr>
        </p15:guide>
        <p15:guide id="12" pos="6696">
          <p15:clr>
            <a:srgbClr val="A4A3A4"/>
          </p15:clr>
        </p15:guide>
        <p15:guide id="13" pos="1008">
          <p15:clr>
            <a:srgbClr val="A4A3A4"/>
          </p15:clr>
        </p15:guide>
        <p15:guide id="14" pos="1584">
          <p15:clr>
            <a:srgbClr val="A4A3A4"/>
          </p15:clr>
        </p15:guide>
        <p15:guide id="15" pos="2136">
          <p15:clr>
            <a:srgbClr val="A4A3A4"/>
          </p15:clr>
        </p15:guide>
        <p15:guide id="16" pos="2760">
          <p15:clr>
            <a:srgbClr val="A4A3A4"/>
          </p15:clr>
        </p15:guide>
        <p15:guide id="17" pos="3288">
          <p15:clr>
            <a:srgbClr val="A4A3A4"/>
          </p15:clr>
        </p15:guide>
        <p15:guide id="18" pos="4032">
          <p15:clr>
            <a:srgbClr val="A4A3A4"/>
          </p15:clr>
        </p15:guide>
        <p15:guide id="19" pos="4392">
          <p15:clr>
            <a:srgbClr val="A4A3A4"/>
          </p15:clr>
        </p15:guide>
        <p15:guide id="20" pos="4944">
          <p15:clr>
            <a:srgbClr val="A4A3A4"/>
          </p15:clr>
        </p15:guide>
        <p15:guide id="21" pos="5544">
          <p15:clr>
            <a:srgbClr val="A4A3A4"/>
          </p15:clr>
        </p15:guide>
        <p15:guide id="22" pos="6072">
          <p15:clr>
            <a:srgbClr val="A4A3A4"/>
          </p15:clr>
        </p15:guide>
        <p15:guide id="23" orient="horz" pos="2448">
          <p15:clr>
            <a:srgbClr val="A4A3A4"/>
          </p15:clr>
        </p15:guide>
        <p15:guide id="24" orient="horz" pos="960">
          <p15:clr>
            <a:srgbClr val="A4A3A4"/>
          </p15:clr>
        </p15:guide>
        <p15:guide id="25" pos="5256">
          <p15:clr>
            <a:srgbClr val="A4A3A4"/>
          </p15:clr>
        </p15:guide>
        <p15:guide id="26" pos="726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FOTGNReIe1DhisanOtcyYfVc7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" descr="preencoded.png"/>
          <p:cNvSpPr/>
          <p:nvPr/>
        </p:nvSpPr>
        <p:spPr>
          <a:xfrm>
            <a:off x="0" y="0"/>
            <a:ext cx="5295900" cy="6877050"/>
          </a:xfrm>
          <a:custGeom>
            <a:avLst/>
            <a:gdLst/>
            <a:ahLst/>
            <a:cxnLst/>
            <a:rect l="l" t="t" r="r" b="b"/>
            <a:pathLst>
              <a:path w="5295900" h="6877050" extrusionOk="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" name="Google Shape;12;p7"/>
          <p:cNvSpPr/>
          <p:nvPr/>
        </p:nvSpPr>
        <p:spPr>
          <a:xfrm>
            <a:off x="1600201" y="1153228"/>
            <a:ext cx="9191625" cy="5704772"/>
          </a:xfrm>
          <a:custGeom>
            <a:avLst/>
            <a:gdLst/>
            <a:ahLst/>
            <a:cxnLst/>
            <a:rect l="l" t="t" r="r" b="b"/>
            <a:pathLst>
              <a:path w="9191625" h="5704772" extrusionOk="0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" name="Google Shape;13;p7"/>
          <p:cNvSpPr/>
          <p:nvPr/>
        </p:nvSpPr>
        <p:spPr>
          <a:xfrm>
            <a:off x="2795588" y="0"/>
            <a:ext cx="6803142" cy="5396474"/>
          </a:xfrm>
          <a:custGeom>
            <a:avLst/>
            <a:gdLst/>
            <a:ahLst/>
            <a:cxnLst/>
            <a:rect l="l" t="t" r="r" b="b"/>
            <a:pathLst>
              <a:path w="6803142" h="5396474" extrusionOk="0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" name="Google Shape;14;p7"/>
          <p:cNvSpPr txBox="1"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Title and Char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539496" y="2103120"/>
            <a:ext cx="11119104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9"/>
          <p:cNvGrpSpPr/>
          <p:nvPr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24" name="Google Shape;24;p9"/>
            <p:cNvSpPr/>
            <p:nvPr/>
          </p:nvSpPr>
          <p:spPr>
            <a:xfrm>
              <a:off x="5009037" y="25257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5" name="Google Shape;25;p9"/>
            <p:cNvSpPr/>
            <p:nvPr/>
          </p:nvSpPr>
          <p:spPr>
            <a:xfrm>
              <a:off x="8589536" y="2525712"/>
              <a:ext cx="3589694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6" name="Google Shape;26;p9"/>
          <p:cNvGrpSpPr/>
          <p:nvPr/>
        </p:nvGrpSpPr>
        <p:grpSpPr>
          <a:xfrm rot="10800000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27" name="Google Shape;27;p9"/>
            <p:cNvSpPr/>
            <p:nvPr/>
          </p:nvSpPr>
          <p:spPr>
            <a:xfrm>
              <a:off x="5183405" y="26781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8" name="Google Shape;28;p9"/>
            <p:cNvSpPr/>
            <p:nvPr/>
          </p:nvSpPr>
          <p:spPr>
            <a:xfrm>
              <a:off x="8763903" y="2678112"/>
              <a:ext cx="3589695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9" name="Google Shape;29;p9" descr="preencoded.png"/>
          <p:cNvSpPr/>
          <p:nvPr/>
        </p:nvSpPr>
        <p:spPr>
          <a:xfrm>
            <a:off x="7642518" y="4577658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/>
          <p:nvPr/>
        </p:nvSpPr>
        <p:spPr>
          <a:xfrm>
            <a:off x="0" y="3427336"/>
            <a:ext cx="3430200" cy="3430665"/>
          </a:xfrm>
          <a:custGeom>
            <a:avLst/>
            <a:gdLst/>
            <a:ahLst/>
            <a:cxnLst/>
            <a:rect l="l" t="t" r="r" b="b"/>
            <a:pathLst>
              <a:path w="3430200" h="3430665" extrusionOk="0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" name="Google Shape;34;p10"/>
          <p:cNvSpPr/>
          <p:nvPr/>
        </p:nvSpPr>
        <p:spPr>
          <a:xfrm>
            <a:off x="0" y="3427336"/>
            <a:ext cx="3430200" cy="3430665"/>
          </a:xfrm>
          <a:custGeom>
            <a:avLst/>
            <a:gdLst/>
            <a:ahLst/>
            <a:cxnLst/>
            <a:rect l="l" t="t" r="r" b="b"/>
            <a:pathLst>
              <a:path w="3430200" h="3430665" extrusionOk="0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5" name="Google Shape;35;p10"/>
          <p:cNvSpPr/>
          <p:nvPr/>
        </p:nvSpPr>
        <p:spPr>
          <a:xfrm>
            <a:off x="1" y="1"/>
            <a:ext cx="3423785" cy="3437345"/>
          </a:xfrm>
          <a:custGeom>
            <a:avLst/>
            <a:gdLst/>
            <a:ahLst/>
            <a:cxnLst/>
            <a:rect l="l" t="t" r="r" b="b"/>
            <a:pathLst>
              <a:path w="3423785" h="3437345" extrusionOk="0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4224528" y="2276856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4224528" y="3222752"/>
            <a:ext cx="6766560" cy="270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0"/>
          <p:cNvSpPr/>
          <p:nvPr/>
        </p:nvSpPr>
        <p:spPr>
          <a:xfrm>
            <a:off x="1" y="869"/>
            <a:ext cx="3423785" cy="3436477"/>
          </a:xfrm>
          <a:custGeom>
            <a:avLst/>
            <a:gdLst/>
            <a:ahLst/>
            <a:cxnLst/>
            <a:rect l="l" t="t" r="r" b="b"/>
            <a:pathLst>
              <a:path w="3423785" h="3436477" extrusionOk="0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2062836" y="686475"/>
            <a:ext cx="7774629" cy="6193018"/>
          </a:xfrm>
          <a:custGeom>
            <a:avLst/>
            <a:gdLst/>
            <a:ahLst/>
            <a:cxnLst/>
            <a:rect l="l" t="t" r="r" b="b"/>
            <a:pathLst>
              <a:path w="7774629" h="6193018" extrusionOk="0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rgbClr val="F8E7E7">
              <a:alpha val="9882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3" name="Google Shape;43;p11"/>
          <p:cNvSpPr/>
          <p:nvPr/>
        </p:nvSpPr>
        <p:spPr>
          <a:xfrm>
            <a:off x="7610252" y="1"/>
            <a:ext cx="2273668" cy="3147998"/>
          </a:xfrm>
          <a:custGeom>
            <a:avLst/>
            <a:gdLst/>
            <a:ahLst/>
            <a:cxnLst/>
            <a:rect l="l" t="t" r="r" b="b"/>
            <a:pathLst>
              <a:path w="2273668" h="3147998" extrusionOk="0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4" name="Google Shape;44;p11"/>
          <p:cNvSpPr/>
          <p:nvPr/>
        </p:nvSpPr>
        <p:spPr>
          <a:xfrm>
            <a:off x="9883919" y="2"/>
            <a:ext cx="2254928" cy="3141557"/>
          </a:xfrm>
          <a:custGeom>
            <a:avLst/>
            <a:gdLst/>
            <a:ahLst/>
            <a:cxnLst/>
            <a:rect l="l" t="t" r="r" b="b"/>
            <a:pathLst>
              <a:path w="2254928" h="3141557" extrusionOk="0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8395730" y="2"/>
            <a:ext cx="2959203" cy="2352793"/>
          </a:xfrm>
          <a:custGeom>
            <a:avLst/>
            <a:gdLst/>
            <a:ahLst/>
            <a:cxnLst/>
            <a:rect l="l" t="t" r="r" b="b"/>
            <a:pathLst>
              <a:path w="2959203" h="2352793" extrusionOk="0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390854" y="3130662"/>
            <a:ext cx="3106248" cy="3748831"/>
          </a:xfrm>
          <a:custGeom>
            <a:avLst/>
            <a:gdLst/>
            <a:ahLst/>
            <a:cxnLst/>
            <a:rect l="l" t="t" r="r" b="b"/>
            <a:pathLst>
              <a:path w="3106248" h="3748831" extrusionOk="0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0" y="3130661"/>
            <a:ext cx="1400640" cy="3748832"/>
          </a:xfrm>
          <a:custGeom>
            <a:avLst/>
            <a:gdLst/>
            <a:ahLst/>
            <a:cxnLst/>
            <a:rect l="l" t="t" r="r" b="b"/>
            <a:pathLst>
              <a:path w="1400640" h="3748832" extrusionOk="0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Title and Tabl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9866106" y="0"/>
            <a:ext cx="2325894" cy="2180854"/>
          </a:xfrm>
          <a:custGeom>
            <a:avLst/>
            <a:gdLst/>
            <a:ahLst/>
            <a:cxnLst/>
            <a:rect l="l" t="t" r="r" b="b"/>
            <a:pathLst>
              <a:path w="2325894" h="2180854" extrusionOk="0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755904" y="2825496"/>
            <a:ext cx="10680192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3611880" y="1984248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sz="1000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2"/>
          </p:nvPr>
        </p:nvSpPr>
        <p:spPr>
          <a:xfrm>
            <a:off x="4389120" y="4308475"/>
            <a:ext cx="3932238" cy="58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3"/>
          </p:nvPr>
        </p:nvSpPr>
        <p:spPr>
          <a:xfrm>
            <a:off x="9500616" y="3209544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sz="1000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 descr="preencoded.png"/>
          <p:cNvSpPr/>
          <p:nvPr/>
        </p:nvSpPr>
        <p:spPr>
          <a:xfrm>
            <a:off x="-7117" y="0"/>
            <a:ext cx="2550985" cy="6858000"/>
          </a:xfrm>
          <a:custGeom>
            <a:avLst/>
            <a:gdLst/>
            <a:ahLst/>
            <a:cxnLst/>
            <a:rect l="l" t="t" r="r" b="b"/>
            <a:pathLst>
              <a:path w="2550985" h="6858000" extrusionOk="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-9415" y="0"/>
            <a:ext cx="2548591" cy="2555628"/>
          </a:xfrm>
          <a:custGeom>
            <a:avLst/>
            <a:gdLst/>
            <a:ahLst/>
            <a:cxnLst/>
            <a:rect l="l" t="t" r="r" b="b"/>
            <a:pathLst>
              <a:path w="2548591" h="2555628" extrusionOk="0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13" descr="preencoded.png"/>
          <p:cNvSpPr/>
          <p:nvPr/>
        </p:nvSpPr>
        <p:spPr>
          <a:xfrm>
            <a:off x="2543868" y="0"/>
            <a:ext cx="2560340" cy="2560340"/>
          </a:xfrm>
          <a:custGeom>
            <a:avLst/>
            <a:gdLst/>
            <a:ahLst/>
            <a:cxnLst/>
            <a:rect l="l" t="t" r="r" b="b"/>
            <a:pathLst>
              <a:path w="2560340" h="2560340" extrusionOk="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3"/>
          <p:cNvSpPr/>
          <p:nvPr/>
        </p:nvSpPr>
        <p:spPr>
          <a:xfrm flipH="1">
            <a:off x="2535251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5" name="Google Shape;65;p13"/>
          <p:cNvSpPr/>
          <p:nvPr/>
        </p:nvSpPr>
        <p:spPr>
          <a:xfrm flipH="1">
            <a:off x="-10617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4">
  <p:cSld name="Team x4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4"/>
          <p:cNvSpPr>
            <a:spLocks noGrp="1"/>
          </p:cNvSpPr>
          <p:nvPr>
            <p:ph type="pic" idx="2"/>
          </p:nvPr>
        </p:nvSpPr>
        <p:spPr>
          <a:xfrm>
            <a:off x="758905" y="2392023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758905" y="4989515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3"/>
          </p:nvPr>
        </p:nvSpPr>
        <p:spPr>
          <a:xfrm>
            <a:off x="916885" y="5599755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>
            <a:spLocks noGrp="1"/>
          </p:cNvSpPr>
          <p:nvPr>
            <p:ph type="pic" idx="4"/>
          </p:nvPr>
        </p:nvSpPr>
        <p:spPr>
          <a:xfrm>
            <a:off x="3517361" y="2392619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76" name="Google Shape;76;p14"/>
          <p:cNvSpPr txBox="1">
            <a:spLocks noGrp="1"/>
          </p:cNvSpPr>
          <p:nvPr>
            <p:ph type="body" idx="5"/>
          </p:nvPr>
        </p:nvSpPr>
        <p:spPr>
          <a:xfrm>
            <a:off x="3516747" y="4990111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6"/>
          </p:nvPr>
        </p:nvSpPr>
        <p:spPr>
          <a:xfrm>
            <a:off x="3674073" y="5600351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>
            <a:spLocks noGrp="1"/>
          </p:cNvSpPr>
          <p:nvPr>
            <p:ph type="pic" idx="7"/>
          </p:nvPr>
        </p:nvSpPr>
        <p:spPr>
          <a:xfrm>
            <a:off x="6275817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79" name="Google Shape;79;p14"/>
          <p:cNvSpPr txBox="1">
            <a:spLocks noGrp="1"/>
          </p:cNvSpPr>
          <p:nvPr>
            <p:ph type="body" idx="8"/>
          </p:nvPr>
        </p:nvSpPr>
        <p:spPr>
          <a:xfrm>
            <a:off x="6274589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9"/>
          </p:nvPr>
        </p:nvSpPr>
        <p:spPr>
          <a:xfrm>
            <a:off x="6432529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>
            <a:spLocks noGrp="1"/>
          </p:cNvSpPr>
          <p:nvPr>
            <p:ph type="pic" idx="13"/>
          </p:nvPr>
        </p:nvSpPr>
        <p:spPr>
          <a:xfrm>
            <a:off x="9034272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82" name="Google Shape;82;p14"/>
          <p:cNvSpPr txBox="1">
            <a:spLocks noGrp="1"/>
          </p:cNvSpPr>
          <p:nvPr>
            <p:ph type="body" idx="14"/>
          </p:nvPr>
        </p:nvSpPr>
        <p:spPr>
          <a:xfrm>
            <a:off x="9032431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5"/>
          </p:nvPr>
        </p:nvSpPr>
        <p:spPr>
          <a:xfrm>
            <a:off x="9190984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8">
  <p:cSld name="Team x8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5"/>
          <p:cNvSpPr>
            <a:spLocks noGrp="1"/>
          </p:cNvSpPr>
          <p:nvPr>
            <p:ph type="pic" idx="2"/>
          </p:nvPr>
        </p:nvSpPr>
        <p:spPr>
          <a:xfrm>
            <a:off x="1271016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1271016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3"/>
          </p:nvPr>
        </p:nvSpPr>
        <p:spPr>
          <a:xfrm>
            <a:off x="1271016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>
            <a:spLocks noGrp="1"/>
          </p:cNvSpPr>
          <p:nvPr>
            <p:ph type="pic" idx="4"/>
          </p:nvPr>
        </p:nvSpPr>
        <p:spPr>
          <a:xfrm>
            <a:off x="1271016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2" name="Google Shape;92;p15"/>
          <p:cNvSpPr txBox="1">
            <a:spLocks noGrp="1"/>
          </p:cNvSpPr>
          <p:nvPr>
            <p:ph type="body" idx="5"/>
          </p:nvPr>
        </p:nvSpPr>
        <p:spPr>
          <a:xfrm>
            <a:off x="1271016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6"/>
          </p:nvPr>
        </p:nvSpPr>
        <p:spPr>
          <a:xfrm>
            <a:off x="1271016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>
            <a:spLocks noGrp="1"/>
          </p:cNvSpPr>
          <p:nvPr>
            <p:ph type="pic" idx="7"/>
          </p:nvPr>
        </p:nvSpPr>
        <p:spPr>
          <a:xfrm>
            <a:off x="3828288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5" name="Google Shape;95;p15"/>
          <p:cNvSpPr txBox="1">
            <a:spLocks noGrp="1"/>
          </p:cNvSpPr>
          <p:nvPr>
            <p:ph type="body" idx="8"/>
          </p:nvPr>
        </p:nvSpPr>
        <p:spPr>
          <a:xfrm>
            <a:off x="3828288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9"/>
          </p:nvPr>
        </p:nvSpPr>
        <p:spPr>
          <a:xfrm>
            <a:off x="3828288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>
            <a:spLocks noGrp="1"/>
          </p:cNvSpPr>
          <p:nvPr>
            <p:ph type="pic" idx="13"/>
          </p:nvPr>
        </p:nvSpPr>
        <p:spPr>
          <a:xfrm>
            <a:off x="3828288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8" name="Google Shape;98;p15"/>
          <p:cNvSpPr txBox="1">
            <a:spLocks noGrp="1"/>
          </p:cNvSpPr>
          <p:nvPr>
            <p:ph type="body" idx="14"/>
          </p:nvPr>
        </p:nvSpPr>
        <p:spPr>
          <a:xfrm>
            <a:off x="3828288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5"/>
          </p:nvPr>
        </p:nvSpPr>
        <p:spPr>
          <a:xfrm>
            <a:off x="3828288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>
            <a:spLocks noGrp="1"/>
          </p:cNvSpPr>
          <p:nvPr>
            <p:ph type="pic" idx="16"/>
          </p:nvPr>
        </p:nvSpPr>
        <p:spPr>
          <a:xfrm>
            <a:off x="6385560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1" name="Google Shape;101;p15"/>
          <p:cNvSpPr txBox="1">
            <a:spLocks noGrp="1"/>
          </p:cNvSpPr>
          <p:nvPr>
            <p:ph type="body" idx="17"/>
          </p:nvPr>
        </p:nvSpPr>
        <p:spPr>
          <a:xfrm>
            <a:off x="6385560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8"/>
          </p:nvPr>
        </p:nvSpPr>
        <p:spPr>
          <a:xfrm>
            <a:off x="6385560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>
            <a:spLocks noGrp="1"/>
          </p:cNvSpPr>
          <p:nvPr>
            <p:ph type="pic" idx="19"/>
          </p:nvPr>
        </p:nvSpPr>
        <p:spPr>
          <a:xfrm>
            <a:off x="6385560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4" name="Google Shape;104;p15"/>
          <p:cNvSpPr txBox="1">
            <a:spLocks noGrp="1"/>
          </p:cNvSpPr>
          <p:nvPr>
            <p:ph type="body" idx="20"/>
          </p:nvPr>
        </p:nvSpPr>
        <p:spPr>
          <a:xfrm>
            <a:off x="6385560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21"/>
          </p:nvPr>
        </p:nvSpPr>
        <p:spPr>
          <a:xfrm>
            <a:off x="6385560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2"/>
          </p:nvPr>
        </p:nvSpPr>
        <p:spPr>
          <a:xfrm>
            <a:off x="8942832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7" name="Google Shape;107;p15"/>
          <p:cNvSpPr txBox="1">
            <a:spLocks noGrp="1"/>
          </p:cNvSpPr>
          <p:nvPr>
            <p:ph type="body" idx="23"/>
          </p:nvPr>
        </p:nvSpPr>
        <p:spPr>
          <a:xfrm>
            <a:off x="8942832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24"/>
          </p:nvPr>
        </p:nvSpPr>
        <p:spPr>
          <a:xfrm>
            <a:off x="8942832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>
            <a:spLocks noGrp="1"/>
          </p:cNvSpPr>
          <p:nvPr>
            <p:ph type="pic" idx="25"/>
          </p:nvPr>
        </p:nvSpPr>
        <p:spPr>
          <a:xfrm>
            <a:off x="8942832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0" name="Google Shape;110;p15"/>
          <p:cNvSpPr txBox="1">
            <a:spLocks noGrp="1"/>
          </p:cNvSpPr>
          <p:nvPr>
            <p:ph type="body" idx="26"/>
          </p:nvPr>
        </p:nvSpPr>
        <p:spPr>
          <a:xfrm>
            <a:off x="8942832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27"/>
          </p:nvPr>
        </p:nvSpPr>
        <p:spPr>
          <a:xfrm>
            <a:off x="8942832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Column">
  <p:cSld name="5 Colum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685338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5116484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9547629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6"/>
          <p:cNvSpPr>
            <a:spLocks noGrp="1"/>
          </p:cNvSpPr>
          <p:nvPr>
            <p:ph type="pic" idx="2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3" name="Google Shape;123;p16"/>
          <p:cNvSpPr txBox="1">
            <a:spLocks noGrp="1"/>
          </p:cNvSpPr>
          <p:nvPr>
            <p:ph type="body" idx="3"/>
          </p:nvPr>
        </p:nvSpPr>
        <p:spPr>
          <a:xfrm>
            <a:off x="731058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4"/>
          </p:nvPr>
        </p:nvSpPr>
        <p:spPr>
          <a:xfrm>
            <a:off x="2900910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5" name="Google Shape;125;p16"/>
          <p:cNvSpPr>
            <a:spLocks noGrp="1"/>
          </p:cNvSpPr>
          <p:nvPr>
            <p:ph type="pic" idx="5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26" name="Google Shape;126;p16"/>
          <p:cNvSpPr txBox="1">
            <a:spLocks noGrp="1"/>
          </p:cNvSpPr>
          <p:nvPr>
            <p:ph type="body" idx="6"/>
          </p:nvPr>
        </p:nvSpPr>
        <p:spPr>
          <a:xfrm>
            <a:off x="2946630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7"/>
          </p:nvPr>
        </p:nvSpPr>
        <p:spPr>
          <a:xfrm>
            <a:off x="5116484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p16"/>
          <p:cNvSpPr>
            <a:spLocks noGrp="1"/>
          </p:cNvSpPr>
          <p:nvPr>
            <p:ph type="pic" idx="8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9" name="Google Shape;129;p16"/>
          <p:cNvSpPr txBox="1">
            <a:spLocks noGrp="1"/>
          </p:cNvSpPr>
          <p:nvPr>
            <p:ph type="body" idx="9"/>
          </p:nvPr>
        </p:nvSpPr>
        <p:spPr>
          <a:xfrm>
            <a:off x="5162204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body" idx="13"/>
          </p:nvPr>
        </p:nvSpPr>
        <p:spPr>
          <a:xfrm>
            <a:off x="7332057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1" name="Google Shape;131;p16"/>
          <p:cNvSpPr>
            <a:spLocks noGrp="1"/>
          </p:cNvSpPr>
          <p:nvPr>
            <p:ph type="pic" idx="14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2" name="Google Shape;132;p16"/>
          <p:cNvSpPr txBox="1">
            <a:spLocks noGrp="1"/>
          </p:cNvSpPr>
          <p:nvPr>
            <p:ph type="body" idx="15"/>
          </p:nvPr>
        </p:nvSpPr>
        <p:spPr>
          <a:xfrm>
            <a:off x="7377777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body" idx="16"/>
          </p:nvPr>
        </p:nvSpPr>
        <p:spPr>
          <a:xfrm>
            <a:off x="9547629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4" name="Google Shape;134;p16"/>
          <p:cNvSpPr>
            <a:spLocks noGrp="1"/>
          </p:cNvSpPr>
          <p:nvPr>
            <p:ph type="pic" idx="17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5" name="Google Shape;135;p16"/>
          <p:cNvSpPr txBox="1">
            <a:spLocks noGrp="1"/>
          </p:cNvSpPr>
          <p:nvPr>
            <p:ph type="body" idx="18"/>
          </p:nvPr>
        </p:nvSpPr>
        <p:spPr>
          <a:xfrm>
            <a:off x="9593349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0" y="0"/>
            <a:ext cx="2838450" cy="2857958"/>
          </a:xfrm>
          <a:custGeom>
            <a:avLst/>
            <a:gdLst/>
            <a:ahLst/>
            <a:cxnLst/>
            <a:rect l="l" t="t" r="r" b="b"/>
            <a:pathLst>
              <a:path w="2838450" h="2857958" extrusionOk="0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" y="-1"/>
            <a:ext cx="1970627" cy="1990267"/>
          </a:xfrm>
          <a:custGeom>
            <a:avLst/>
            <a:gdLst/>
            <a:ahLst/>
            <a:cxnLst/>
            <a:rect l="l" t="t" r="r" b="b"/>
            <a:pathLst>
              <a:path w="1970627" h="1990267" extrusionOk="0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" y="1"/>
            <a:ext cx="1003449" cy="1013015"/>
          </a:xfrm>
          <a:custGeom>
            <a:avLst/>
            <a:gdLst/>
            <a:ahLst/>
            <a:cxnLst/>
            <a:rect l="l" t="t" r="r" b="b"/>
            <a:pathLst>
              <a:path w="1003449" h="1013015" extrusionOk="0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7" descr="preencoded.png"/>
          <p:cNvSpPr/>
          <p:nvPr/>
        </p:nvSpPr>
        <p:spPr>
          <a:xfrm>
            <a:off x="1458332" y="590133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3" name="Google Shape;143;p17"/>
          <p:cNvSpPr txBox="1">
            <a:spLocks noGrp="1"/>
          </p:cNvSpPr>
          <p:nvPr>
            <p:ph type="body" idx="1"/>
          </p:nvPr>
        </p:nvSpPr>
        <p:spPr>
          <a:xfrm>
            <a:off x="685338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body" idx="2"/>
          </p:nvPr>
        </p:nvSpPr>
        <p:spPr>
          <a:xfrm>
            <a:off x="2900911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body" idx="3"/>
          </p:nvPr>
        </p:nvSpPr>
        <p:spPr>
          <a:xfrm>
            <a:off x="5116484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body" idx="4"/>
          </p:nvPr>
        </p:nvSpPr>
        <p:spPr>
          <a:xfrm>
            <a:off x="7332057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5"/>
          </p:nvPr>
        </p:nvSpPr>
        <p:spPr>
          <a:xfrm>
            <a:off x="9547629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6"/>
          </p:nvPr>
        </p:nvSpPr>
        <p:spPr>
          <a:xfrm>
            <a:off x="685338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body" idx="7"/>
          </p:nvPr>
        </p:nvSpPr>
        <p:spPr>
          <a:xfrm>
            <a:off x="2900911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body" idx="8"/>
          </p:nvPr>
        </p:nvSpPr>
        <p:spPr>
          <a:xfrm>
            <a:off x="5116484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9"/>
          </p:nvPr>
        </p:nvSpPr>
        <p:spPr>
          <a:xfrm>
            <a:off x="7332057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13"/>
          </p:nvPr>
        </p:nvSpPr>
        <p:spPr>
          <a:xfrm>
            <a:off x="9547629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3" name="Google Shape;153;p17"/>
          <p:cNvCxnSpPr/>
          <p:nvPr/>
        </p:nvCxnSpPr>
        <p:spPr>
          <a:xfrm>
            <a:off x="739398" y="4187681"/>
            <a:ext cx="10812360" cy="0"/>
          </a:xfrm>
          <a:prstGeom prst="straightConnector1">
            <a:avLst/>
          </a:prstGeom>
          <a:noFill/>
          <a:ln w="12700" cap="flat" cmpd="sng">
            <a:solidFill>
              <a:srgbClr val="F1D0D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8" descr="preencoded.png"/>
          <p:cNvSpPr/>
          <p:nvPr/>
        </p:nvSpPr>
        <p:spPr>
          <a:xfrm>
            <a:off x="-5568" y="-2784"/>
            <a:ext cx="3443288" cy="6891337"/>
          </a:xfrm>
          <a:custGeom>
            <a:avLst/>
            <a:gdLst/>
            <a:ahLst/>
            <a:cxnLst/>
            <a:rect l="l" t="t" r="r" b="b"/>
            <a:pathLst>
              <a:path w="3443288" h="6891337" extrusionOk="0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57" name="Google Shape;157;p1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1721621" y="-2784"/>
            <a:ext cx="1716115" cy="1720853"/>
          </a:xfrm>
          <a:custGeom>
            <a:avLst/>
            <a:gdLst/>
            <a:ahLst/>
            <a:cxnLst/>
            <a:rect l="l" t="t" r="r" b="b"/>
            <a:pathLst>
              <a:path w="1716115" h="1720853" extrusionOk="0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9" name="Google Shape;159;p18" descr="preencoded.png"/>
          <p:cNvSpPr/>
          <p:nvPr/>
        </p:nvSpPr>
        <p:spPr>
          <a:xfrm>
            <a:off x="-5568" y="3440504"/>
            <a:ext cx="3443288" cy="3448050"/>
          </a:xfrm>
          <a:custGeom>
            <a:avLst/>
            <a:gdLst/>
            <a:ahLst/>
            <a:cxnLst/>
            <a:rect l="l" t="t" r="r" b="b"/>
            <a:pathLst>
              <a:path w="3443288" h="3448050" extrusionOk="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60" name="Google Shape;160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body" idx="2"/>
          </p:nvPr>
        </p:nvSpPr>
        <p:spPr>
          <a:xfrm>
            <a:off x="368503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body" idx="3"/>
          </p:nvPr>
        </p:nvSpPr>
        <p:spPr>
          <a:xfrm>
            <a:off x="804672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body" idx="4"/>
          </p:nvPr>
        </p:nvSpPr>
        <p:spPr>
          <a:xfrm>
            <a:off x="775411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9"/>
          <p:cNvSpPr>
            <a:spLocks noGrp="1"/>
          </p:cNvSpPr>
          <p:nvPr>
            <p:ph type="pic" idx="2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72" name="Google Shape;172;p19"/>
          <p:cNvSpPr txBox="1">
            <a:spLocks noGrp="1"/>
          </p:cNvSpPr>
          <p:nvPr>
            <p:ph type="body" idx="3"/>
          </p:nvPr>
        </p:nvSpPr>
        <p:spPr>
          <a:xfrm>
            <a:off x="992124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4"/>
          </p:nvPr>
        </p:nvSpPr>
        <p:spPr>
          <a:xfrm>
            <a:off x="4443984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4" name="Google Shape;174;p19"/>
          <p:cNvSpPr>
            <a:spLocks noGrp="1"/>
          </p:cNvSpPr>
          <p:nvPr>
            <p:ph type="pic" idx="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19"/>
          <p:cNvSpPr txBox="1">
            <a:spLocks noGrp="1"/>
          </p:cNvSpPr>
          <p:nvPr>
            <p:ph type="body" idx="6"/>
          </p:nvPr>
        </p:nvSpPr>
        <p:spPr>
          <a:xfrm>
            <a:off x="4722876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body" idx="7"/>
          </p:nvPr>
        </p:nvSpPr>
        <p:spPr>
          <a:xfrm>
            <a:off x="8092440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7" name="Google Shape;177;p19"/>
          <p:cNvSpPr>
            <a:spLocks noGrp="1"/>
          </p:cNvSpPr>
          <p:nvPr>
            <p:ph type="pic" idx="8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78" name="Google Shape;178;p19"/>
          <p:cNvSpPr txBox="1">
            <a:spLocks noGrp="1"/>
          </p:cNvSpPr>
          <p:nvPr>
            <p:ph type="body" idx="9"/>
          </p:nvPr>
        </p:nvSpPr>
        <p:spPr>
          <a:xfrm>
            <a:off x="8371332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 descr="preencoded.png"/>
          <p:cNvSpPr/>
          <p:nvPr/>
        </p:nvSpPr>
        <p:spPr>
          <a:xfrm>
            <a:off x="8758238" y="-14287"/>
            <a:ext cx="3433763" cy="3452812"/>
          </a:xfrm>
          <a:custGeom>
            <a:avLst/>
            <a:gdLst/>
            <a:ahLst/>
            <a:cxnLst/>
            <a:rect l="l" t="t" r="r" b="b"/>
            <a:pathLst>
              <a:path w="3433763" h="3452812" extrusionOk="0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1" name="Google Shape;181;p20" descr="preencoded.png"/>
          <p:cNvSpPr/>
          <p:nvPr/>
        </p:nvSpPr>
        <p:spPr>
          <a:xfrm>
            <a:off x="8758238" y="3438525"/>
            <a:ext cx="3433763" cy="3433762"/>
          </a:xfrm>
          <a:custGeom>
            <a:avLst/>
            <a:gdLst/>
            <a:ahLst/>
            <a:cxnLst/>
            <a:rect l="l" t="t" r="r" b="b"/>
            <a:pathLst>
              <a:path w="3433763" h="3433762" extrusionOk="0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2" name="Google Shape;182;p20" descr="preencoded.png"/>
          <p:cNvSpPr/>
          <p:nvPr/>
        </p:nvSpPr>
        <p:spPr>
          <a:xfrm rot="10800000" flipH="1">
            <a:off x="9991725" y="1247775"/>
            <a:ext cx="2200275" cy="2181225"/>
          </a:xfrm>
          <a:custGeom>
            <a:avLst/>
            <a:gdLst/>
            <a:ahLst/>
            <a:cxnLst/>
            <a:rect l="l" t="t" r="r" b="b"/>
            <a:pathLst>
              <a:path w="2200275" h="2181225" extrusionOk="0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3" name="Google Shape;183;p20" descr="preencoded.png"/>
          <p:cNvSpPr/>
          <p:nvPr/>
        </p:nvSpPr>
        <p:spPr>
          <a:xfrm rot="10800000" flipH="1">
            <a:off x="-20086" y="4580051"/>
            <a:ext cx="2277948" cy="2277948"/>
          </a:xfrm>
          <a:custGeom>
            <a:avLst/>
            <a:gdLst/>
            <a:ahLst/>
            <a:cxnLst/>
            <a:rect l="l" t="t" r="r" b="b"/>
            <a:pathLst>
              <a:path w="2277948" h="2277948" extrusionOk="0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4" name="Google Shape;184;p2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 descr="preencoded.png"/>
          <p:cNvSpPr/>
          <p:nvPr/>
        </p:nvSpPr>
        <p:spPr>
          <a:xfrm>
            <a:off x="1707959" y="5667616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20"/>
          <p:cNvSpPr txBox="1"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body" idx="1"/>
          </p:nvPr>
        </p:nvSpPr>
        <p:spPr>
          <a:xfrm>
            <a:off x="1508760" y="2837688"/>
            <a:ext cx="5879592" cy="270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0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accent6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0" y="0"/>
            <a:ext cx="8948738" cy="6858000"/>
          </a:xfrm>
          <a:custGeom>
            <a:avLst/>
            <a:gdLst/>
            <a:ahLst/>
            <a:cxnLst/>
            <a:rect l="l" t="t" r="r" b="b"/>
            <a:pathLst>
              <a:path w="8948738" h="6858000" extrusionOk="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2" name="Google Shape;192;p21" descr="preencoded.png"/>
          <p:cNvSpPr/>
          <p:nvPr/>
        </p:nvSpPr>
        <p:spPr>
          <a:xfrm>
            <a:off x="7538626" y="13142"/>
            <a:ext cx="4653374" cy="6831717"/>
          </a:xfrm>
          <a:custGeom>
            <a:avLst/>
            <a:gdLst/>
            <a:ahLst/>
            <a:cxnLst/>
            <a:rect l="l" t="t" r="r" b="b"/>
            <a:pathLst>
              <a:path w="4653374" h="6831717" extrusionOk="0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3" name="Google Shape;193;p2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>
            <a:lvl1pPr lv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 descr="preencoded.png"/>
          <p:cNvSpPr/>
          <p:nvPr/>
        </p:nvSpPr>
        <p:spPr>
          <a:xfrm>
            <a:off x="-5568" y="-2784"/>
            <a:ext cx="3443288" cy="6891337"/>
          </a:xfrm>
          <a:custGeom>
            <a:avLst/>
            <a:gdLst/>
            <a:ahLst/>
            <a:cxnLst/>
            <a:rect l="l" t="t" r="r" b="b"/>
            <a:pathLst>
              <a:path w="3443288" h="6891337" extrusionOk="0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8" name="Google Shape;198;p2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1721621" y="-2784"/>
            <a:ext cx="1716115" cy="1720853"/>
          </a:xfrm>
          <a:custGeom>
            <a:avLst/>
            <a:gdLst/>
            <a:ahLst/>
            <a:cxnLst/>
            <a:rect l="l" t="t" r="r" b="b"/>
            <a:pathLst>
              <a:path w="1716115" h="1720853" extrusionOk="0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0" name="Google Shape;200;p22" descr="preencoded.png"/>
          <p:cNvSpPr/>
          <p:nvPr/>
        </p:nvSpPr>
        <p:spPr>
          <a:xfrm>
            <a:off x="-5568" y="3440504"/>
            <a:ext cx="3443288" cy="3448050"/>
          </a:xfrm>
          <a:custGeom>
            <a:avLst/>
            <a:gdLst/>
            <a:ahLst/>
            <a:cxnLst/>
            <a:rect l="l" t="t" r="r" b="b"/>
            <a:pathLst>
              <a:path w="3443288" h="3448050" extrusionOk="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01" name="Google Shape;201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body" idx="1"/>
          </p:nvPr>
        </p:nvSpPr>
        <p:spPr>
          <a:xfrm>
            <a:off x="368503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2"/>
          <p:cNvSpPr txBox="1">
            <a:spLocks noGrp="1"/>
          </p:cNvSpPr>
          <p:nvPr>
            <p:ph type="body" idx="2"/>
          </p:nvPr>
        </p:nvSpPr>
        <p:spPr>
          <a:xfrm>
            <a:off x="775411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9" name="Google Shape;209;p23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3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5" name="Google Shape;215;p24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6" name="Google Shape;216;p24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0" name="Google Shape;220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7" name="Google Shape;227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0" name="Google Shape;230;p26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>
            <a:spLocks noGrp="1"/>
          </p:cNvSpPr>
          <p:nvPr>
            <p:ph type="ctrTitle"/>
          </p:nvPr>
        </p:nvSpPr>
        <p:spPr>
          <a:xfrm>
            <a:off x="2781301" y="1984248"/>
            <a:ext cx="6772274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ctr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dirty="0"/>
              <a:t>BIGTECHCOMPANY</a:t>
            </a:r>
            <a:endParaRPr dirty="0"/>
          </a:p>
        </p:txBody>
      </p:sp>
      <p:sp>
        <p:nvSpPr>
          <p:cNvPr id="237" name="Google Shape;237;p1"/>
          <p:cNvSpPr txBox="1"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Financial Overview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"/>
          <p:cNvSpPr txBox="1">
            <a:spLocks noGrp="1"/>
          </p:cNvSpPr>
          <p:nvPr>
            <p:ph type="title"/>
          </p:nvPr>
        </p:nvSpPr>
        <p:spPr>
          <a:xfrm>
            <a:off x="768096" y="490011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QUARTERLY PERFORMANCE</a:t>
            </a:r>
            <a:endParaRPr/>
          </a:p>
        </p:txBody>
      </p:sp>
      <p:sp>
        <p:nvSpPr>
          <p:cNvPr id="243" name="Google Shape;243;p2"/>
          <p:cNvSpPr txBox="1">
            <a:spLocks noGrp="1"/>
          </p:cNvSpPr>
          <p:nvPr>
            <p:ph type="ftr" idx="11"/>
          </p:nvPr>
        </p:nvSpPr>
        <p:spPr>
          <a:xfrm>
            <a:off x="621792" y="20080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BigTechCompany</a:t>
            </a:r>
            <a:endParaRPr/>
          </a:p>
        </p:txBody>
      </p:sp>
      <p:sp>
        <p:nvSpPr>
          <p:cNvPr id="244" name="Google Shape;244;p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45" name="Google Shape;245;p2"/>
          <p:cNvSpPr/>
          <p:nvPr/>
        </p:nvSpPr>
        <p:spPr>
          <a:xfrm>
            <a:off x="1191768" y="1864659"/>
            <a:ext cx="9753600" cy="45361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B295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Insert Quarterly table (Output 1) in this space.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Delete this box once this is completed.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3A6AA1-B8E6-2AAB-0629-EA7E60BBE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243391"/>
              </p:ext>
            </p:extLst>
          </p:nvPr>
        </p:nvGraphicFramePr>
        <p:xfrm>
          <a:off x="1191768" y="1864658"/>
          <a:ext cx="9781029" cy="4536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3741">
                  <a:extLst>
                    <a:ext uri="{9D8B030D-6E8A-4147-A177-3AD203B41FA5}">
                      <a16:colId xmlns:a16="http://schemas.microsoft.com/office/drawing/2014/main" val="2617345566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465726307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3473603403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1603734258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4157102943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2753734130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949778339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960230141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2227547144"/>
                    </a:ext>
                  </a:extLst>
                </a:gridCol>
                <a:gridCol w="863032">
                  <a:extLst>
                    <a:ext uri="{9D8B030D-6E8A-4147-A177-3AD203B41FA5}">
                      <a16:colId xmlns:a16="http://schemas.microsoft.com/office/drawing/2014/main" val="1634056230"/>
                    </a:ext>
                  </a:extLst>
                </a:gridCol>
              </a:tblGrid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BigTechCompany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1854465711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($ in thousands)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2023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3350440427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Revenues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$501,430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$513,924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$523,843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$539,652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$550,744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$557,910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$554,791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$549,644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$571,305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1907886140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Quarterly Growth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3816088643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209191792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Operating Income (EBITDA)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$137,190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$129,334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$122,868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$44,224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$138,014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$110,480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$107,311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$38,493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$120,002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1157814265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Quarterly Growth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-5%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-64%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212%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-20%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-3%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-64%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212%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1311793257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3402521934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Net Income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$119,470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$94,711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$101,435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$42,520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$111,821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$100,867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$97,877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$3,870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$102,019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1632595604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Quarterly Growth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-21%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-58%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163%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-10%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-3%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-96%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2536%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2718530057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Net Income per Share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$3.85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$3.27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$3.60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$3.24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$3.14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$0.12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$3.27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3821074858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84572316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Free Cash Flow (FCF)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$48,416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-$12,253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-$7,438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-$39,848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$56,118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$891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$33,030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$23,259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$56,812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626844000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686985456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Financial Metrics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Q1 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Q2 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Q3 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Q4 2021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Q1 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Q2 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Q3 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Q4 2022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Q1 2023</a:t>
                      </a:r>
                      <a:endParaRPr lang="en-US" sz="11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2198913160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EBITDA Margin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1670906953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Net Income Margin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2416949578"/>
                  </a:ext>
                </a:extLst>
              </a:tr>
              <a:tr h="2520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FCF per Diluted Share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$1.52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-$0.38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-$0.23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-$1.25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$1.77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$0.03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$1.05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$0.74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$1.79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718" marR="8718" marT="8718" marB="0" anchor="b"/>
                </a:tc>
                <a:extLst>
                  <a:ext uri="{0D108BD9-81ED-4DB2-BD59-A6C34878D82A}">
                    <a16:rowId xmlns:a16="http://schemas.microsoft.com/office/drawing/2014/main" val="20888427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"/>
          <p:cNvSpPr txBox="1">
            <a:spLocks noGrp="1"/>
          </p:cNvSpPr>
          <p:nvPr>
            <p:ph type="title"/>
          </p:nvPr>
        </p:nvSpPr>
        <p:spPr>
          <a:xfrm>
            <a:off x="768096" y="490011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 dirty="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CUSTOMER TRENDS</a:t>
            </a:r>
            <a:endParaRPr dirty="0"/>
          </a:p>
        </p:txBody>
      </p:sp>
      <p:sp>
        <p:nvSpPr>
          <p:cNvPr id="251" name="Google Shape;251;p3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52" name="Google Shape;252;p3"/>
          <p:cNvSpPr txBox="1"/>
          <p:nvPr/>
        </p:nvSpPr>
        <p:spPr>
          <a:xfrm>
            <a:off x="1261872" y="1353222"/>
            <a:ext cx="10370147" cy="195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Key Takeaways: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Price Increase Impact on Attrition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    When the subscription cost increased from $33 to $34 in Q1 2022, customer attrition jumped sharply from 444 in Q4 2021 to 2,446 in Q1 2022 and 5,000 in Q2 2022.</a:t>
            </a:r>
          </a:p>
          <a:p>
            <a:r>
              <a:rPr lang="en-US" sz="1100" i="1" dirty="0">
                <a:latin typeface="Calibri" panose="020F0502020204030204" pitchFamily="34" charset="0"/>
                <a:cs typeface="Calibri" panose="020F0502020204030204" pitchFamily="34" charset="0"/>
              </a:rPr>
              <a:t>     This indicates price sensitivity in the customer base, where a relatively small increase triggered a disproportionately large spike in cancellations.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Insights from the Churn Rate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    Churn spiked to 15.1% in Q1 2022 and hit a peak of 30.5% in Q2 2022, compared to sub-3% levels before the price increase.</a:t>
            </a:r>
          </a:p>
          <a:p>
            <a:r>
              <a:rPr lang="en-US" sz="1100" i="1" dirty="0">
                <a:latin typeface="Calibri" panose="020F0502020204030204" pitchFamily="34" charset="0"/>
                <a:cs typeface="Calibri" panose="020F0502020204030204" pitchFamily="34" charset="0"/>
              </a:rPr>
              <a:t>     Elevated churn rates in 2022 show that customer retention was under severe pressure, especially in the first half of the year.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Customer Number Trend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    Overall customer numbers dipped in mid-2022 due to high attrition (negative net change in Q2 and Q3 2022).</a:t>
            </a:r>
          </a:p>
          <a:p>
            <a:r>
              <a:rPr lang="en-US" sz="1100" i="1" dirty="0">
                <a:latin typeface="Calibri" panose="020F0502020204030204" pitchFamily="34" charset="0"/>
                <a:cs typeface="Calibri" panose="020F0502020204030204" pitchFamily="34" charset="0"/>
              </a:rPr>
              <a:t>     The recovery in Q4 2022 and Q1 2023 (+637 and +1,643 users) suggests the company began regaining momentum, but it hasn’t yet surpassed the volatility caused by the price                                     increase.</a:t>
            </a:r>
          </a:p>
        </p:txBody>
      </p:sp>
      <p:sp>
        <p:nvSpPr>
          <p:cNvPr id="253" name="Google Shape;253;p3"/>
          <p:cNvSpPr/>
          <p:nvPr/>
        </p:nvSpPr>
        <p:spPr>
          <a:xfrm>
            <a:off x="1488141" y="3587771"/>
            <a:ext cx="9215718" cy="287767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B295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Insert Customer Trends (Output 2) Here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Delete this box once this step is completed. </a:t>
            </a:r>
            <a:endParaRPr dirty="0"/>
          </a:p>
        </p:txBody>
      </p:sp>
      <p:sp>
        <p:nvSpPr>
          <p:cNvPr id="255" name="Google Shape;255;p3"/>
          <p:cNvSpPr txBox="1">
            <a:spLocks noGrp="1"/>
          </p:cNvSpPr>
          <p:nvPr>
            <p:ph type="ftr" idx="11"/>
          </p:nvPr>
        </p:nvSpPr>
        <p:spPr>
          <a:xfrm>
            <a:off x="621792" y="20080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BigTechCompany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072D1A-3408-177E-245B-24FBEA3F5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294126"/>
              </p:ext>
            </p:extLst>
          </p:nvPr>
        </p:nvGraphicFramePr>
        <p:xfrm>
          <a:off x="1488141" y="3587771"/>
          <a:ext cx="9215717" cy="3171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9569">
                  <a:extLst>
                    <a:ext uri="{9D8B030D-6E8A-4147-A177-3AD203B41FA5}">
                      <a16:colId xmlns:a16="http://schemas.microsoft.com/office/drawing/2014/main" val="3268664671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4138507648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2892450959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58028676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3232841234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3595783038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67046375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3782036473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2076709625"/>
                    </a:ext>
                  </a:extLst>
                </a:gridCol>
                <a:gridCol w="719572">
                  <a:extLst>
                    <a:ext uri="{9D8B030D-6E8A-4147-A177-3AD203B41FA5}">
                      <a16:colId xmlns:a16="http://schemas.microsoft.com/office/drawing/2014/main" val="772309050"/>
                    </a:ext>
                  </a:extLst>
                </a:gridCol>
              </a:tblGrid>
              <a:tr h="1745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Customer Trends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Q4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Q1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0505450"/>
                  </a:ext>
                </a:extLst>
              </a:tr>
              <a:tr h="1745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#s in thousands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2021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2021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2021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2021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2022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2022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2022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2022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2023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7316839"/>
                  </a:ext>
                </a:extLst>
              </a:tr>
              <a:tr h="160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636551"/>
                  </a:ext>
                </a:extLst>
              </a:tr>
              <a:tr h="160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Cost of Subscription (Quarterly)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$34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87276414"/>
                  </a:ext>
                </a:extLst>
              </a:tr>
              <a:tr h="160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5743849"/>
                  </a:ext>
                </a:extLst>
              </a:tr>
              <a:tr h="312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Number of Users (Beginning of Period)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15,195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15,573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15,874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16,353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16,198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16,409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16,317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16,166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16,803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5679575"/>
                  </a:ext>
                </a:extLst>
              </a:tr>
              <a:tr h="312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Customer Attrition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   89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200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                  204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444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2,446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1,655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1,244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322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375490"/>
                  </a:ext>
                </a:extLst>
              </a:tr>
              <a:tr h="312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New Users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468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501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683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289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2,657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4,908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1,504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1,881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1,965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6680504"/>
                  </a:ext>
                </a:extLst>
              </a:tr>
              <a:tr h="312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Number of Users (End of Period)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15,573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15,874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16,353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16,198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16,409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16,317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16,166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16,803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18,446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1911273"/>
                  </a:ext>
                </a:extLst>
              </a:tr>
              <a:tr h="160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Change in # of Users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3696540"/>
                  </a:ext>
                </a:extLst>
              </a:tr>
              <a:tr h="160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6983342"/>
                  </a:ext>
                </a:extLst>
              </a:tr>
              <a:tr h="3128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Net Change in Customers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379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301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479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(155)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211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 (92)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(151)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    637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              1,643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0547947"/>
                  </a:ext>
                </a:extLst>
              </a:tr>
              <a:tr h="1607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Churn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1.9%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99946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"/>
          <p:cNvSpPr txBox="1">
            <a:spLocks noGrp="1"/>
          </p:cNvSpPr>
          <p:nvPr>
            <p:ph type="title"/>
          </p:nvPr>
        </p:nvSpPr>
        <p:spPr>
          <a:xfrm>
            <a:off x="768096" y="490011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PROJECTIONS</a:t>
            </a:r>
            <a:endParaRPr/>
          </a:p>
        </p:txBody>
      </p:sp>
      <p:sp>
        <p:nvSpPr>
          <p:cNvPr id="261" name="Google Shape;261;p4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1191768" y="1864659"/>
            <a:ext cx="9753600" cy="45361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B295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Insert Output 3 in this space.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Delete this box once this is completed. </a:t>
            </a:r>
            <a:endParaRPr/>
          </a:p>
        </p:txBody>
      </p:sp>
      <p:sp>
        <p:nvSpPr>
          <p:cNvPr id="263" name="Google Shape;263;p4"/>
          <p:cNvSpPr txBox="1">
            <a:spLocks noGrp="1"/>
          </p:cNvSpPr>
          <p:nvPr>
            <p:ph type="ftr" idx="11"/>
          </p:nvPr>
        </p:nvSpPr>
        <p:spPr>
          <a:xfrm>
            <a:off x="621792" y="20080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BigTechCompany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6F2236-F113-6CB0-A371-4E69554CB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899340"/>
              </p:ext>
            </p:extLst>
          </p:nvPr>
        </p:nvGraphicFramePr>
        <p:xfrm>
          <a:off x="1191768" y="1875292"/>
          <a:ext cx="9781034" cy="4536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8269">
                  <a:extLst>
                    <a:ext uri="{9D8B030D-6E8A-4147-A177-3AD203B41FA5}">
                      <a16:colId xmlns:a16="http://schemas.microsoft.com/office/drawing/2014/main" val="424539501"/>
                    </a:ext>
                  </a:extLst>
                </a:gridCol>
                <a:gridCol w="1289495">
                  <a:extLst>
                    <a:ext uri="{9D8B030D-6E8A-4147-A177-3AD203B41FA5}">
                      <a16:colId xmlns:a16="http://schemas.microsoft.com/office/drawing/2014/main" val="4232797533"/>
                    </a:ext>
                  </a:extLst>
                </a:gridCol>
                <a:gridCol w="1094654">
                  <a:extLst>
                    <a:ext uri="{9D8B030D-6E8A-4147-A177-3AD203B41FA5}">
                      <a16:colId xmlns:a16="http://schemas.microsoft.com/office/drawing/2014/main" val="4180297048"/>
                    </a:ext>
                  </a:extLst>
                </a:gridCol>
                <a:gridCol w="1094654">
                  <a:extLst>
                    <a:ext uri="{9D8B030D-6E8A-4147-A177-3AD203B41FA5}">
                      <a16:colId xmlns:a16="http://schemas.microsoft.com/office/drawing/2014/main" val="1719760826"/>
                    </a:ext>
                  </a:extLst>
                </a:gridCol>
                <a:gridCol w="1094654">
                  <a:extLst>
                    <a:ext uri="{9D8B030D-6E8A-4147-A177-3AD203B41FA5}">
                      <a16:colId xmlns:a16="http://schemas.microsoft.com/office/drawing/2014/main" val="1871188206"/>
                    </a:ext>
                  </a:extLst>
                </a:gridCol>
                <a:gridCol w="1094654">
                  <a:extLst>
                    <a:ext uri="{9D8B030D-6E8A-4147-A177-3AD203B41FA5}">
                      <a16:colId xmlns:a16="http://schemas.microsoft.com/office/drawing/2014/main" val="100529647"/>
                    </a:ext>
                  </a:extLst>
                </a:gridCol>
                <a:gridCol w="1094654">
                  <a:extLst>
                    <a:ext uri="{9D8B030D-6E8A-4147-A177-3AD203B41FA5}">
                      <a16:colId xmlns:a16="http://schemas.microsoft.com/office/drawing/2014/main" val="4031394005"/>
                    </a:ext>
                  </a:extLst>
                </a:gridCol>
              </a:tblGrid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FY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2020-2024E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7981414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Financial Highlights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2020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2021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2022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2023E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2024E</a:t>
                      </a:r>
                      <a:endParaRPr lang="en-US" sz="12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CAGR</a:t>
                      </a:r>
                      <a:endParaRPr lang="en-US" sz="1200" b="0" i="1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4638819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Revenues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$1,999,444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$2,078,849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$2,213,089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$2,285,221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$2,628,004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9604308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Annual Growth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6156904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Operating Income (EBITDA)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$371,461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$433,616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$394,298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$480,009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$528,010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0113346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Annual Growth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-9%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7049940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Net Income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$247,641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$358,136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$314,435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$408,075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$440,721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0778767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Annual Growth</a:t>
                      </a:r>
                      <a:endParaRPr lang="en-US" sz="12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-12%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8%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6930083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Net Income per Share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$12.11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$11.55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$10.11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$13.09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$14.14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9918926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Free Cash Flow (FCF)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$755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-$11,123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$113,297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$227,248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$222,703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314%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8876251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8581328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sng" strike="noStrike">
                          <a:effectLst/>
                        </a:rPr>
                        <a:t>Financial Metrics</a:t>
                      </a:r>
                      <a:endParaRPr lang="en-US" sz="1200" b="1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9577078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EBITDA Margin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319662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Net Income Margin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5212416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Debt / EBITDA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2.7x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2.4x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2.5x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2.0x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1.9x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868355"/>
                  </a:ext>
                </a:extLst>
              </a:tr>
              <a:tr h="2835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FCF per Diluted Share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$0.03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-$0.35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$3.58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$7.18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$7.03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63012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"/>
          <p:cNvSpPr txBox="1">
            <a:spLocks noGrp="1"/>
          </p:cNvSpPr>
          <p:nvPr>
            <p:ph type="title"/>
          </p:nvPr>
        </p:nvSpPr>
        <p:spPr>
          <a:xfrm>
            <a:off x="768096" y="490011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CONCLUSIONS</a:t>
            </a:r>
            <a:endParaRPr/>
          </a:p>
        </p:txBody>
      </p:sp>
      <p:sp>
        <p:nvSpPr>
          <p:cNvPr id="269" name="Google Shape;269;p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70" name="Google Shape;270;p5"/>
          <p:cNvSpPr txBox="1"/>
          <p:nvPr/>
        </p:nvSpPr>
        <p:spPr>
          <a:xfrm>
            <a:off x="1579213" y="1173089"/>
            <a:ext cx="9215718" cy="5570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Company Highlights</a:t>
            </a:r>
            <a:endParaRPr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Historical &amp; Future Revenue Trends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Revenues have shown steady growth from $1.99B in 2020 to an estimated $2.63B in 2024, with particularly strong growth expected in 2024 (+15%).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Cash Flows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Free cash flow (FCF) has generally been positive except for certain quarters in 2021–2022, and strong cash generation in late 2022 and early 2023 indicates improving liquidity.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Debt/EBITDA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Based on available data, the company’s Debt/EBITDA ratio appears to be below the industry average of 4.0x, suggesting a healthy leverage profile and capacity to manage debt obligations effectively.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Other Positives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Customer base recovery in late 2022 and early 2023, along with consistent subscription pricing since Q1 2022, indicates stabilization after churn spikes.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Areas of Concern</a:t>
            </a:r>
            <a:endParaRPr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Earnings Regularity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Quarterly earnings are volatile, with sharp drops in EBITDA in Q4 2021 and Q4 2022, followed by strong rebounds in subsequent quarters.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Expenses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Certain quarters (notably Q4 2021 and Q4 2022) show unusually low EBITDA due to elevated expenses relative to revenue, which impacted profitability.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EBITDA Margin vs Industry Average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EBITDA margins fluctuate significantly, ranging from 7% to 27% vs. the industry average of 39%, indicating operational efficiency is well below peers in certain periods.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endParaRPr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Relationship Development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The company shows long-term revenue growth, improving cash flow, and a healthy debt profile, making it a reasonable candidate for partnership or investment consideration.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Clarifications Needed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- Unusually high expenses in Q4 2021 and Q4 2022 that reduced margins.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- Revenue growth drivers behind the strong projected increase in 2024 (+15%).</a:t>
            </a:r>
          </a:p>
          <a:p>
            <a:pPr marL="285750" marR="0" lvl="0" indent="-1968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968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 txBox="1">
            <a:spLocks noGrp="1"/>
          </p:cNvSpPr>
          <p:nvPr>
            <p:ph type="ftr" idx="11"/>
          </p:nvPr>
        </p:nvSpPr>
        <p:spPr>
          <a:xfrm>
            <a:off x="621792" y="200809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BigTechCompany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1241</Words>
  <Application>Microsoft Macintosh PowerPoint</Application>
  <PresentationFormat>Widescreen</PresentationFormat>
  <Paragraphs>390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EB Garamond</vt:lpstr>
      <vt:lpstr>Noto Sans Symbols</vt:lpstr>
      <vt:lpstr>Calibri</vt:lpstr>
      <vt:lpstr>Wingdings</vt:lpstr>
      <vt:lpstr>Arial Black</vt:lpstr>
      <vt:lpstr>Office Theme</vt:lpstr>
      <vt:lpstr>BIGTECHCOMPANY</vt:lpstr>
      <vt:lpstr>QUARTERLY PERFORMANCE</vt:lpstr>
      <vt:lpstr>CUSTOMER TRENDS</vt:lpstr>
      <vt:lpstr>PROJECTIONS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BIGTECHCOMPANY</dc:title>
  <dc:creator>Stephanie Rodgers</dc:creator>
  <cp:lastModifiedBy>Shravani Goud Dindu</cp:lastModifiedBy>
  <cp:revision>2</cp:revision>
  <dcterms:created xsi:type="dcterms:W3CDTF">2023-05-19T18:17:16Z</dcterms:created>
  <dcterms:modified xsi:type="dcterms:W3CDTF">2025-08-12T07:17:33Z</dcterms:modified>
</cp:coreProperties>
</file>